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SERIES SEED / PRE-A CONFIDENTIAL INVESTMENT PROPOSAL</a:t>
            </a:r>
          </a:p>
          <a:p>
            <a:pPr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아워골 (OurGoal)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10B981"/>
                </a:solidFill>
                <a:latin typeface="Malgun Gothic"/>
              </a:rPr>
              <a:t>AI 지능형 페이스메이커 &amp; C2C 목표 템플릿 마켓플레이스</a:t>
            </a:r>
          </a:p>
          <a:p>
            <a:pPr>
              <a:spcAft>
                <a:spcPts val="2800"/>
              </a:spcAft>
            </a:pPr>
            <a:r>
              <a:rPr sz="1400" i="1">
                <a:solidFill>
                  <a:srgbClr val="CBD5E1"/>
                </a:solidFill>
                <a:latin typeface="Malgun Gothic"/>
              </a:rPr>
              <a:t>"작심삼일(포기율 90%)을 끝내는 3대 본질 아키텍처와 Habit-to-Earn 경제 생태계"</a:t>
            </a:r>
          </a:p>
          <a:p>
            <a:r>
              <a:rPr sz="1200">
                <a:solidFill>
                  <a:srgbClr val="38BDF8"/>
                </a:solidFill>
                <a:latin typeface="Malgun Gothic"/>
              </a:rPr>
              <a:t>창업자 &amp; 대표: 상민 (만 29세 청년 슈퍼 파운더)  | 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60-Second Elevator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아워골(OurGoal)이 해결하는 거대한 문제와 차별화된 시장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아워골은 단순 루틴 체크앱이 아닌, 목표 완주를 보장하는 차세대 성취 OS이자 C2C 지식 거래 플랫폼입니다.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[PROBLEM]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거대한 시장 결핍 (The Pain)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2030 세대의 84%가 '갓생'을 열망하지만 90%가 30일 내 중도 포기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혼자 쓰는 투두앱은 피드백 부재로 고립감 심화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인스타그램 등 SNS는 과시와 비교 박탈감으로 인증 피로도 극에 달함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사소한 일일 루틴과 인생 궁극적 목표 간의 단절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29260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[SOLUTION]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아워골의 독점적 해법 (The Solution)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본질 3축: 3초 체크인 루프 + 5단위 회고 + 무공해 동류 소셜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Gemini Flash AI 기반 1:1 맞춤형 실시간 페이스메이커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상민 대표 직접 구상 7대 엔진: '앱을 내맘대로!' 개인화 UI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출석 &amp; 체크인 크레딧 채굴(Habit-to-Earn)로 DAU 폭발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30175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[BUSINESS]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진짜 돈이 되는 사업 (The Business)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C2C 템플릿 마켓플레이스 거래 수수료 30%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B2C OurGoal Pro 프리미엄 멤버십 (월 4,900원)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타깃 맥락 맞춤형 제휴 커머스 &amp; B2B 챌린지 솔루션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4개월 내 10만 유저 / 2억 매출 ➔ 3년차 36.8억 원 초고마진 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Investment Thesis: 왜 아워골에 투자해야 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글로벌 탑티어 투자자가 주목해야 할 4가지 확실한 투자 명제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강력한 유닛 이코노믹스(5.2x)와 무외주 AI 조직을 통해 3~5년 내 20~50배 자본 회수를 실현합니다.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[MARKET]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1. 검증된 거대 시장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글로벌 생산성/자기관리 15조 시장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국내 2030 타깃 6,800억 원 규모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기존 선도앱(마이루틴 등)의 다운로드 100만 돌파로 지불의사 검증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[PRODUCT]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2. 압도적 제품 차별성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비교 없는 무공해 동류 넛지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단 한 번의 실패도 막아주는 스트릭 프리즈 &amp; AI 슬럼프 케어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유저가 직접 메뉴/위젯을 커스텀하는 '앱을 내맘대로'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[MONEY]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3. 폭발적 수익 파이프라인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단순 광고앱 탈피, 5개 다각화 수익원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UGC 템플릿 마켓 30% 플랫폼 수수료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크레딧 환전 및 인앱 웰니스 쇼핑몰 연계 락인 극대화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[EXECUTION]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4. 무외주 AI 초격차 실행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만 29세 슈퍼 파운더의 지휘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AI 자율 에이전트 편대로 외주비 $0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15분 핫픽스 SLA로 타사 대비 10배 빠른 제품 혁신 속도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Key Metrics at a Glance: 숫자로 증명하는 사업성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초기 지표 및 3개년 핵심 성장 지표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LTV:CAC 5.2x와 88% 이상의 매출총이익률은 벤처캐피털이 가장 선호하는 SaaS 비즈니스 지표입니다.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1945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563EB"/>
                </a:solidFill>
                <a:latin typeface="Arial"/>
              </a:rPr>
              <a:t>5.2x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LTV : CAC Ratio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글로벌 VC 탑티어 기준(3.0x) 상회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783080"/>
            <a:ext cx="21945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0B981"/>
                </a:solidFill>
                <a:latin typeface="Arial"/>
              </a:rPr>
              <a:t>42 Days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CAC Payback Period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초저비용 PWA 바이럴로 마케팅비 조기회수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21945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9333EA"/>
                </a:solidFill>
                <a:latin typeface="Arial"/>
              </a:rPr>
              <a:t>88.1%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Gross Profit Margin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경량 LLM 및 서버리스로 원가 최소화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21945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59E0B"/>
                </a:solidFill>
                <a:latin typeface="Arial"/>
              </a:rPr>
              <a:t>$0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External Dev Agency Cost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AI 자율 엔지니어링으로 인건비 번레이트 방어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2"/>
            <a:ext cx="4846320" cy="15910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[TRACTION]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초기 4개월 성장 마일스톤 (D0 ➔ M4)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D0~W1: PWA 3초 설치 배포 + 지인 300명 코호트 15분 핫픽스 사이클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M1: 5천 명 확보, 구글 플레이/앱스토어 출시, 숏폼 60편 오가닉 유입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M4: 10만 명 돌파 및 연간 환산 매출 2억 원 조기 달성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05072"/>
            <a:ext cx="4846320" cy="15910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[3-YEAR P&amp;L]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3개년 손익 예측 요약 (Financial Target)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1년차 (2027): MAU 10만 명 / 매출 2.1억 원 / 영업이익 6,500만 원 (흑자 전환)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2년차 (2028): MAU 45만 명 / 매출 11.5억 원 / 영업이익 5.6억 원 (J-커브 달성)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3년차 (2029): MAU 120만 명 / 매출 36.8억 원 / 영업이익 19.1억 원 (OP Margin 51.9%)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Today's 1-Hour Due Diligence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투자 결정을 돕기 위한 1시간 프레젠테이션 심층 아젠다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문제 정의부터 기술 아키텍처, 5대 수익 모델, 유닛 이코노믹스, 팀 역량까지 투명하게 공개합니다.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02. The Brutal Problem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2030 작심삼일 90%의 근본 원인과 기존 솔루션의 실패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556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03. The Core Solution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아워골 3대 본질 아키텍처 (체크인 루프 · 5단위 회고 · 무공해 동류)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7556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04. 7 Proprietary Engines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상민 대표 직접 구상: '앱 내맘대로', 크레딧 보상, 템플릿 마켓 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05. Product &amp; Technology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PWA 1초 설치, Supabase RLS, Gemini Flash 초저비용 무결성 인프라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17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1272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06. Market &amp; Moat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TAM 15조 / SAM 6,800억 시장 규모 및 5계층 방어 해자(Moat)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017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1272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07. The Money Machine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C2C 마켓 30% 수수료, B2C 구독, 제휴 커머스, B2B 웰니스 파이프라인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988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08. Growth Engine (GTM)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K-factor 0.42 바이럴 루프, 숏폼 채널, 4개월 10만 명 로드맵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3891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4988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09. Financial Projections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유닛 이코노믹스(CAC/LTV), 3개년 추정 손익계산서 및 현금흐름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43891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4498848"/>
            <a:ext cx="320040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Part 10. Team &amp; The Ask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334155"/>
                </a:solidFill>
                <a:latin typeface="Malgun Gothic"/>
              </a:rPr>
              <a:t>AI 자율 개발 조직 편대, 투자 조건($300K~$500K) 및 15~50배 Exit 시나리오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02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The Brutal Problem in 2030 Goal Achievement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왜 1,000만 명이 매년 결심하고도 90%가 포기하는가?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2030 'God-Life' Paradox: 거대한 열망 vs 90% 이탈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자기관리 열풍의 이면에 숨겨진 극단적인 중도 탈락 데이터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의지 부족이 아닌, '고립된 환경'과 '잘못된 도구'가 작심삼일을 필연적으로 만듭니다.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563EB"/>
                </a:solidFill>
                <a:latin typeface="Arial"/>
              </a:rPr>
              <a:t>84.2%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2030 갓생 지향 비율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대학내일 20대연구소 실측 조사 결과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0175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59E0B"/>
                </a:solidFill>
                <a:latin typeface="Arial"/>
              </a:rPr>
              <a:t>80.4%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설치 7일 내 이탈률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일반 투두/습관 앱 평균 리텐션 붕괴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10896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EF4444"/>
                </a:solidFill>
                <a:latin typeface="Arial"/>
              </a:rPr>
              <a:t>91.3%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30일 내 중도 포기율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기존 목표 달성 앱의 1개월 생존율 10% 미만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1"/>
            <a:ext cx="10332719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[INSIGHT]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역설의 본질 (The Core Paradox)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청년층은 그 어느 세대보다 자아실현, 스펙업, 바디프로필, 재테크 목표 달성에 진심입니다.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하지만 시중의 앱들은 10년 전 체크리스트 방식을 답습하고 있어, 시작한 지 3~7일 만에 지루함과 고립감으로 포기합니다.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이 거대한 실패의 틈새가 바로 아워골이 장악할 수백억 규모의 블루오션 기회입니다.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Why Willpower Alone Always Fails: 고립된 의지력의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단방향 수동 기록이 뇌과학적으로 실패할 수밖에 없는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피드백이 없는 고립된 행동은 도파민 보상 회로를 작동시키지 못해 반드시 꺼집니다.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[BRAIN SCIENCE]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단방향 기록기의 치명적 결함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뇌과학적 보상 결핍: 혼자 체크박스 하나 누른다고 뇌에서 도파민이 분비되지 않음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침묵의 방치: 내가 오늘 운동을 했는지 안 했는지 앱도, 타인도 전혀 관심이 없음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동기부여의 급격한 감쇠: 시작 3일 차가 지나면 의지력 호르몬이 고갈되어 앱 접속 중단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사용자는 앱이 쓸모없다고 느끼고 일주일 만에 앱 삭제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[OURGOAL INTERVENTION]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아워골의 뇌과학적 인터벤션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Gemini Flash AI 페이스메이커가 즉각 맞춤 칭찬과 코칭을 1초 만에 응답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 진행률 게이지가 실시간으로 차오르는 시각적 보상 메커니즘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같은 목표를 달리는 동류의 1-Tap 무공해 응원이 즉각적 소속감과 연대감 부여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외로운 의지력이 아닌, 'AI+동류'의 다각적 견인력으로 지속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Toxicity of Existing Social Media: 과시 피로와 비교 박탈감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인스타그램·스레드 인증이 지속 가능한 자기계발이 될 수 없는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화려한 성공만 전시하는 기존 SNS는 유저에게 자괴감을 주지만, 아워골은 100% 무공해 환경을 보장합니다.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[EXISTING SNS]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기존 SNS (인스타그램, 링크드인, 오픈채팅)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전시형 과시 문화: 화려한 성공, 명품, 완벽한 몸매만 올리는 '가면 쓴 인증'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상대적 박탈감(FOMO): 타인의 하이라이트와 나의 슬럼프를 비교하며 자존감 붕괴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피드백의 피로도: 장문의 댓글 품앗이, 팔로워 늘리기 경쟁으로 인한 감정 소모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실패 은폐: 작심삼일로 실패했을 때 부끄러워서 인증을 멈추고 잠수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[ZERO-TOXICITY SOCIAL]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아워골의 무공해 소셜 넛지 (Zero-Toxicity)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팔로워 수 / 좋아요 랭킹 전면 배제: 외모/재력 경쟁 요소를 원천 차단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익명 마니또 &amp; 동류 매칭: 비슷한 목표를 가진 동료와 1:1 무공해 지지 결속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1-Tap 마이크로 응원: 긴 댓글 부담 없이 5종 이모지 터치로 든든한 연대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슬럼프 안전망: 힘든 날 솔직히 기록해도 AI와 마니또가 따뜻한 위로와 대안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Fatal Disconnect: 목표(Goal)와 일상 루틴(Routine)의 단절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사소한 행동이 큰 꿈과 연결되지 않아 생기는 동력 상실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마일스톤 없는 일상 루틴은 단순 노동에 불과합니다. 아워골은 모든 행동을 인생 목표와 직결합니다.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[DISCONNECTED]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기존 루틴 앱의 단절된 구조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'물 2L 마시기', '영단어 10개', '스트레칭 5분' 등 파편화된 행동만 나열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내가 왜 이 고생을 하고 있는지 궁극적 지향점(원하는 기업 취업, 마라톤 완주)이 시야에서 사라짐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목표로 향하는 단계적 진척도(Milestone)가 없어 성취감을 느끼지 못함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결국 '내가 지금 뭐 하고 있지?'라는 회의감과 함께 포기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[OURGOAL CONNECTED]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아워골의 입체적 연계 구조 (Goal ➔ Routine)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AI 자동 마일스톤 분해: 큰 목표 입력 시 3~5단계의 실행 마일스톤 자동 설계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일일 행동의 목표 기여도 실시간 반영: '오늘 단어 암기로 [토익 850점] 목표가 2.4% 전진!'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주간/월간 단위로 내 인생 목표가 현실화되는 시각적 진척 그래프 체감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사소한 10분의 루틴이 원대한 꿈을 이루는 강력한 블록으로 전환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'Guilt Avalanche': 단 1회 실패가 유저를 죽인다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연속 기록(스트릭) 초기화가 부르는 앱 삭제의 악순환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스트릭 프리즈와 슬럼프 세이프티 넷은 유저 이탈을 80% 방어하는 비즈니스 핵심 방패입니다.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[STREAK RESET TRAP]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기존 앱의 가혹한 규칙: 스트릭 리셋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야근, 감기, 피치 못할 사정으로 하루 체크인을 놓침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그동안 피땀 흘려 쌓아온 '45일 연속 스트릭'이 하루아침에 '0일'로 증발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유저 심리: 극심한 죄책감, 허무함, 패배감 급습 ('에라 모르겠다')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행동 결과: 앱 알림을 꺼버리거나 앱을 홈 화면에서 즉시 삭제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[SAFETY NET SYSTEM]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아워골의 회복탄력성 (Resilience Architecture)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스트릭 프리즈 (Streak Freeze): 주 1회 기본 제공으로 연속 기록 안전 보호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AI 슬럼프 세이프티 넷: 3일 연속 미달 시 비난 대신 '목표 난이도 30% 완화 제안'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죄책감 소멸 UX: '쉬어가는 것도 완주의 일부'라는 심리적 안전감 부여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비즈니스 임팩트: D30 리텐션을 업계 평균(8%) 대비 3배 높은 24%로 방어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03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The Solution — OurGoal Core Essence Architecture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본질에 집중한 제품만이 지속 가능한 리텐션과 매출을 만듭니다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OurGoal Paradigm Shift: 본질 3축 아키텍처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체크인 루프 · 5단위 회고 · 동류 발견의 유기적 시너지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기능의 홍수가 아닌, 유저가 목표를 달성하는 본질적 동선에 집중하여 극도의 몰입을 만듭니다.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[ESSENCE 01]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축 ① 체크인 루프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홈 화면 단일 동선 완성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오늘의 질문 ➔ 3초 답하기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Gemini 맞춤 피드백 ➔ 위치 확인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기록 완료까지 3초 컷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마찰 없는 극단적 사용성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29260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[ESSENCE 02]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축 ② 5단위 기록 회고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오늘·주·달·년·직접설정 세그먼트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기록한 날 vs 안 한 날 차이 입증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베스트 기록 3선 원문 인용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성취 내러티브 카드 자동 발행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'성취감 ➔ 가치 ➔ 다음 의지'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30175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[ESSENCE 03]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축 ③ 동류 발견 &amp; 소통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동일 테마/관심사 실유저 매칭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가짜 봇 배제 100% 실데이터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1-클릭 '이 목표 구조 가져오기'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1-Tap 무공해 원터치 응원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고스트 방지 하이브리드 AI 마니또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Essence 1: The 3-Second Check-in Loop (체크인 루프)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홈 화면에 들어와 3초 만에 기록하고 보상받는 매끄러운 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사용자가 앱을 켜서 나갈 때까지 군더더기 없이 '성취감'만 안겨주는 단일 인터랙션 파이프라인입니다.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Arial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Malgun Gothic"/>
              </a:rPr>
              <a:t>Step 1. 오늘의 질문</a:t>
            </a:r>
          </a:p>
          <a:p>
            <a:pPr>
              <a:spcBef>
                <a:spcPts val="800"/>
              </a:spcBef>
            </a:pPr>
            <a:r>
              <a:rPr sz="919">
                <a:solidFill>
                  <a:srgbClr val="334155"/>
                </a:solidFill>
                <a:latin typeface="Malgun Gothic"/>
              </a:rPr>
              <a:t>오늘 [토익 850점]을 위해 어떤 마이크로 액션을 완료하셨나요?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1" y="17830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Arial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Malgun Gothic"/>
              </a:rPr>
              <a:t>Step 2. 3초 답하기</a:t>
            </a:r>
          </a:p>
          <a:p>
            <a:pPr>
              <a:spcBef>
                <a:spcPts val="800"/>
              </a:spcBef>
            </a:pPr>
            <a:r>
              <a:rPr sz="919">
                <a:solidFill>
                  <a:srgbClr val="334155"/>
                </a:solidFill>
                <a:latin typeface="Malgun Gothic"/>
              </a:rPr>
              <a:t>단어 20개 외우고 RC 모의고사 1세트 풀었음! (원탭/음성/텍스트)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1224" y="17830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Arial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Malgun Gothic"/>
              </a:rPr>
              <a:t>Step 3. AI 즉각 피드백</a:t>
            </a:r>
          </a:p>
          <a:p>
            <a:pPr>
              <a:spcBef>
                <a:spcPts val="800"/>
              </a:spcBef>
            </a:pPr>
            <a:r>
              <a:rPr sz="919">
                <a:solidFill>
                  <a:srgbClr val="334155"/>
                </a:solidFill>
                <a:latin typeface="Malgun Gothic"/>
              </a:rPr>
              <a:t>Gemini: 'RC 1세트 완주 대단해요! 오늘 실천으로 목표에 3.2% 더 가까워졌습니다!'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17830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Arial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Malgun Gothic"/>
              </a:rPr>
              <a:t>Step 4. 내 위치 체감</a:t>
            </a:r>
          </a:p>
          <a:p>
            <a:pPr>
              <a:spcBef>
                <a:spcPts val="800"/>
              </a:spcBef>
            </a:pPr>
            <a:r>
              <a:rPr sz="919">
                <a:solidFill>
                  <a:srgbClr val="334155"/>
                </a:solidFill>
                <a:latin typeface="Malgun Gothic"/>
              </a:rPr>
              <a:t>[토익 850점] 전체 진행률 64.2% ➔ 67.4% 실시간 게이지 상승 시각화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64592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8" y="17830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Arial"/>
              </a:rPr>
              <a:t>05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Malgun Gothic"/>
              </a:rPr>
              <a:t>Step 5. 기록 &amp; 크레딧 적립</a:t>
            </a:r>
          </a:p>
          <a:p>
            <a:pPr>
              <a:spcBef>
                <a:spcPts val="800"/>
              </a:spcBef>
            </a:pPr>
            <a:r>
              <a:rPr sz="919">
                <a:solidFill>
                  <a:srgbClr val="334155"/>
                </a:solidFill>
                <a:latin typeface="Malgun Gothic"/>
              </a:rPr>
              <a:t>체크인 완료 및 100 크레딧 자동 지급! 기록 탭에 안전 저장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AI Pacemaker Deep Dive: $0 서버 원가로 구현한 초개인화 코칭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Google Gemini Flash 모델 연동으로 100만 유저 트래픽 방어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상투적이고 뻔한 칭찬이 아닌, 기록의 테마(공부/운동/멘탈/사업)를 정확히 간파해 실질적 팁을 제공합니다.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[THEMATIC COACHING]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5대 테마 자동 인식 &amp; 페르소나 코칭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심리 / 멘탈: '지친 마음 공감 1문장 + 호흡/이완 솔루션 1문장'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공부 / 자격증: '학습량 인정 1문장 + 오답노트/망각곡선 복습 팁 1문장'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운동 / 건강: '성취 격려 1문장 + 수분 보충/근육 휴식 조언 1문장'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사업 / 업무: '생산성 칭찬 1문장 + 다음 액션 아이템 우선순위 1문장'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관계 / 습관: '약속 이행 축하 1문장 + 지속 가능한 루틴 팁 1문장'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[TECH &amp; COST DEFENSE]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엔지니어링 &amp; 비용 방어 우위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Gemini Flash 경량 API 활용: 생성 지연 시간 1.5초 이내 초고속 응답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1인당 일일 API 토큰 상한선 통제: 유저 1만 명당 월 API 비용 수천 원 수준 방어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엄격한 150자 이내 규칙: 사용자가 한눈에 읽고 즉각 도파민을 얻도록 압축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폴백 및 품질 게이트(validateGoalPlan): 이상 응답 및 날짜 꼬임 100% 차단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Essence 2: The 5-Tier Retrospective (5단위 기록 회고)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오늘 · 이번 주 · 이번 달 · 올해 · 직접 설정 단일 세그먼트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회고는 반성이 아니라 '성취감의 증폭기'여야 합니다. 기록의 가치를 눈으로 확인시킵니다.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[5-TIER SEGMENTS]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단일 화면 5단위 세그먼트 전환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오늘: 오늘의 실천 기록과 체크인 타임라인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이번 주: 7일간의 잔디(히트맵)와 요일별 실천율 비교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이번 달: 30일간의 마일스톤 전진율 및 테마별 시간 투자 비중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올해: 12개월 막대그래프 + 월별 최고의 하이라이트 1줄 요약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직접 설정: 시험 준비 기간(D-100일) 등 유저 맞춤형 기간 통계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[MEASURABLE IMPACT]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'기록이 만든 차이' 시각화 블록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기록한 주(Week)의 목표 진척도: 평균 +14.2% 전진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기록을 건너뛴 주의 진척도: 평균 +1.8% 정체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데이터로 직관적 증명: '기록하면 목표 달성 속도가 7.8배 빨라집니다!'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베스트 기록 3선 자동 인용: 내가 직접 쓴 감동적인 실천 메모 재조명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종결: 다음 날 첫 체크인 문장 자동 프리필 ➔ 다음 기록 의지 완벽 연결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Achievement Narrative Card: 도파민 중심 성취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스포티파이 랩드(Wrapped) 스타일의 바이럴 자산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매주 일요일 저녁 발행되는 성취 카드는 유저의 자존감을 채우고 인스타그램 스토리 바이럴을 촉발합니다.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[CARD COMPONENTS]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성취 내러티브 카드의 구성 요소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주간 성취 타이틀: '이번 주 상민님은 [불꽃의 마라토너] 페이스였습니다!'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핵심 지표 카드: 주간 달성률 92%, 누적 스트릭 18일, 마일스톤 2단계 돌파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동류의 따뜻한 시선: '이번 주 24명의 러닝메이트가 상민님을 열렬히 응원했어요!'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스마트 캡처 &amp; 1-클릭 인스타 스토리 / 카카오톡 공유 최적화 비율(9:16)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[VIRAL FLYWHEEL]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바이럴 루프 (K-Factor 0.42 견인)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지인들이 인스타그램 스토리에서 카드 확인: '이 앱 뭐야? 나도 해볼래'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카드 하단에 고유 초대 링크(ref=) 및 QR 코드 자동 삽입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지인이 링크 클릭 시 앱 설치 없이 1초 만에 웹에서 바로 체험 (PWA)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친구 가입 시 양방향 500 크레딧 즉각 지급 ➔ CAC $0의 오가닉 확장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Essence 3: Zero-Toxicity Peer Discovery (동류 발견)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비슷한 목표를 가진 동료의 로드맵을 1-클릭으로 내 계정에 복제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남의 성공을 부러워하는 대신, 검증된 목표 구조를 내 것으로 흡수하는 생산적 소통입니다.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[PEER MATCHING]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테마 기반 유사 동류 매칭 알고리즘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 카테고리(공부/운동/창업 등) 및 마감일, 진척도가 유사한 실유저 매칭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공개범위 기본값 혁신: '같은 테마 사용자에게만 안전 공개' (Theme-based)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신상 정보, 얼굴, 재력 노출 0%: 오직 실천 기록과 마일스톤 구조만 공유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소통 탭 최상단 '나와 비슷한 사람' 가로형 카드 피드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[CLONE GOAL STRUCTURE]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'이 목표 구조 가져오기' 원터치 복제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원작자가 100일간 다듬은 검증된 마일스톤과 주간 루틴 템플릿 열람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1-클릭 복제 시 내 D-Day에 맞게 마감일과 일정이 자동 재계산되어 세팅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원작자 환류 알림: '상민님의 목표 구조를 14명이 가져갔어요! (+700 크레딧)'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선순환: 양질의 목표 구조를 짠 사람이 보상받고 존경받는 생태계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04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Sangmin's 7 Proprietary Innovation Engines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상민 대표가 직접 설계한 리텐션 극대화 및 고수익 창출 7대 핵심 엔진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04 · INNOVATION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Engine 1: '앱을 내맘대로!' (사용자 맞춤 UI/UX)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사용자가 필요한 기능만 조립하고 불필요한 요소는 숨기는 극단적 개인화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일방적으로 강요된 복잡한 인터페이스를 파괴하고, 유저에게 완전한 제어권(Agency)을 부여합니다.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[USER AGENCY]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설계 철학 &amp; 인터페이스 혁신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문제점: 기존 앱들은 메모, 캘린더, 커뮤니티, 통계를 일방 강요해 조작 피로 유발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솔루션: 설정 메뉴의 '앱을 내맘대로!'를 통해 홈 화면 위젯 온/오프 토글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미니멀리스트 모드: 오직 '오늘의 질문 + 3초 체크인'만 남겨 집중력 극대화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데이터 분석가 모드: 5단위 히트맵 잔디와 통계 위젯을 상단 전면 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[BUSINESS IMPACT]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비즈니스 &amp; 리텐션 임팩트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유저 주도성(Perceived Control) 증대로 앱에 대한 애착도와 정착률 급상승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다양한 페르소나(취준생, 직장인, 운동선수)를 단 하나의 단일 코드로 완벽 수용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불필요한 렌더링 요소를 제거하여 저사양 스마트폰에서도 FCP 1.0초 미만 유지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온보딩 후 7일 차 이탈률을 경쟁사 대비 40% 이상 대폭 개선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04 · INNOVATION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Engine 2: 출석 &amp; 체크인 크레딧 채굴 (Habit-to-Earn)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앱에 접속하고 기록만 해도 자산(Credit)이 쌓이는 보상 루프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게임의 일일 퀘스트 보상 심리를 일상 성취에 완벽히 이식하여 DAU를 견인합니다.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[MINING STRUCTURE]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크레딧 채굴 구조 (Mining Mechanics)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일일 앱 출석체크: 매일 앱 접속 시 50 크레딧 자동 지급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일일 목표 체크인 완료: 진정성 있는 실천 기록 작성 시 100 크레딧 추가 지급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연속 7일 달성 보너스: 스트릭 유지 시 500 보너스 크레딧 지급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마일스톤 완주 보너스: 중간 단계 달성 시 1,000 크레딧 대량 리워드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[RETENTION FLYWHEEL]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경제적 락인 &amp; 리텐션 효과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손실 회피 심리(Loss Aversion): '오늘 안 들어가면 크레딧 보너스가 날아간다'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누적된 크레딧의 자산화: 앱 내에서 실제 현금 가치를 지니므로 탈퇴 불가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DAU/MAU 비율(스틱키니스): 업계 평균(18%)을 압도하는 45% 목표 달성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자연스러운 유료 구독 전환: 모인 크레딧으로 Pro 멤버십 할인 결제 유도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04 · INNOVATION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Engine 3: '도움돼요' 사유 DB화 &amp; 크레딧 보상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의미 없는 하트 남발을 없애고 고순도 피드백 데이터를 축적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단순 클릭이 아닌 '왜 도움이 되었는지' 사유를 남길 때 상호 보상을 지급하는 고가치 데이터 엔진입니다.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[QUALITATIVE REWARD]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사유 작성 보상 메커니즘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기존 SNS의 한계: 영혼 없는 '좋아요' 클릭은 유익한 정보와 쓰레기를 구분 못 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아워골의 해법: '도움돼요' 클릭 시 '어떤 점이 도움되었나요?' 1줄 사유 작성 팝업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작성자 보상: 양질의 사유 작성자에게 30 크레딧 지급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원작자 보상: 도움을 준 원문 작성자에게 50 크레딧 전달 ➔ 양방향 윈윈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[DATA MOAT]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독점적 데이터 자산 (Data Moat)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수십만 건의 '사람들이 진짜 목표를 달성할 때 도움받은 구체적 팁' DB 자동 구축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AI 페이스메이커의 파인튜닝 원천 데이터로 재활용 ➔ 경쟁사가 절대 모방 불가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커머스 연계 데이터: '이 영양제를 먹고 수면의 질이 올랐음' 사유가 곧 구매 전환 데이터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유저 활동이 곧 기업 가치로 직결되는 강력한 데이터 플라이휠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04 · INNOVATION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Engine 4: 우수 기여자 상단 노출 큐레이션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광고나 어뷰징 없이 커뮤니티의 선한 영향력으로 검증된 리더를 랭킹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'도움돼요'를 많이 받은 진짜 유익한 유저를 테마 피드 상단에 배치하여 커뮤니티 신뢰를 지킵니다.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[RANKING ALGORITHM]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신뢰 기반 랭킹 알고리즘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자극적인 어그로나 팔로워 수가 아닌, '순수 누적 도움돼요 사유 수'로 계산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AI 텍스트 필터: 생성형 AI가 대량 생성한 복붙 글이나 스팸성 피드는 점수 차감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실사용자 코호트의 실질적 지지를 받은 진짜 실천가만 최상단에 노출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카테고리별 명예의 전당: [이번 주 공부 테마 최고의 조언가 5인]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[ECOSYSTEM IMPACT]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생태계 및 수익화 시너지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우수 유저의 자발적 앰배서더화: 상단 노출 명예로 인해 더 양질의 기록 생산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인플루언서 템플릿 마켓 연계: 상단 노출 유저의 목표 템플릿 판매량 급증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B2B 멘토링 프로그램 연계: 상위 1% 우수 유저를 B2B 기업 챌린지 코치로 영입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플랫폼 정화: 쓰레기 정보와 유령 봇이 발붙일 수 없는 청정 생태계 완성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04 · INNOVATION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Engine 5: 4단계 무공해 소통 체계 (Zero-Toxicity)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응원해요 · 도움돼요 · 별로에요(사유 필수) · 조언해요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악플과 감정 소모를 원천 봉쇄하고, 목표 달성에 도움되는 건설적 피드백만 오가는 안전지대입니다.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Malgun Gothic"/>
              </a:rPr>
              <a:t>1. 응원해요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64748B"/>
                </a:solidFill>
                <a:latin typeface="Malgun Gothic"/>
              </a:rPr>
              <a:t>1-Tap 원터치 이모지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334155"/>
                </a:solidFill>
                <a:latin typeface="Malgun Gothic"/>
              </a:rPr>
              <a:t>감정 소모 없이 5종 마이크로 리액션(불꽃/박수/따뜻/리스펙/로켓) 발송. 즉각적 지지감 부여.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Malgun Gothic"/>
              </a:rPr>
              <a:t>2. 도움돼요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64748B"/>
                </a:solidFill>
                <a:latin typeface="Malgun Gothic"/>
              </a:rPr>
              <a:t>노하우 인정 &amp; 크레딧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334155"/>
                </a:solidFill>
                <a:latin typeface="Malgun Gothic"/>
              </a:rPr>
              <a:t>상대방의 팁이 실질적 도움이 되었음을 인정하고 크레딧을 전달. 사유 DB와 자동 연계.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Malgun Gothic"/>
              </a:rPr>
              <a:t>3. 별로에요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64748B"/>
                </a:solidFill>
                <a:latin typeface="Malgun Gothic"/>
              </a:rPr>
              <a:t>무분별 비난 원천 차단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334155"/>
                </a:solidFill>
                <a:latin typeface="Malgun Gothic"/>
              </a:rPr>
              <a:t>맹목적 비방 금지: 'AI 의심글', '잘못된 정보', '광고 스팸' 등 사유를 반드시 선택해야만 접수.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Malgun Gothic"/>
              </a:rPr>
              <a:t>4. 조언해요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64748B"/>
                </a:solidFill>
                <a:latin typeface="Malgun Gothic"/>
              </a:rPr>
              <a:t>원작자 통제형 꿀팁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334155"/>
                </a:solidFill>
                <a:latin typeface="Malgun Gothic"/>
              </a:rPr>
              <a:t>목표를 돕는 실질적 팁 작성. 작성자가 공개/비공개 선택 가능하며, 원작자가 게시 여부 최종 결정권 행사.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04 · INNOVATION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Engine 6: C2C 목표 템플릿 마켓 &amp; 크리에이터 로열티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목표 달성 노하우가 지식재산권(IP)이 되어 돈이 되는 크리에이터 이코노미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템플릿 다운로드 수에 따라 제작자에게 지속적 크레딧 로열티를 지급하여 전문가 생태계를 구축합니다.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[CREATOR ECONOMY]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크리에이터 인센티브 &amp; 로열티 구조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전문가 풀 영입: 공기업 합격자, 전문 트레이너, 1인 창업가, 어학 만점자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 탭의 '템플릿 마켓'에 100일 완주 로드맵 및 데일리 액션 등록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다운로드 마일스톤 보상: 500회, 1,000회, 5,000회 복사 시 거액의 크레딧 지급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프리미엄 템플릿 유료 판매: 건당 2,900~19,900원 결제 지원 (크리에이터 수익 70%)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[REVENUE IMPACT]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플랫폼 비즈니스 임팩트 (30% Take Rate)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플랫폼 플랫폼 수수료 30% 수취 ➔ 무재고 고마진 중개 매출 발생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크리에이터의 자발적 외부 마케팅: 본인 인스타/유튜브에 '내 템플릿 링크' 홍보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CAC 0원의 대규모 외부 유저 유입 파이프라인 자동 형성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글로벌 확장 용이: 영어/일본어 템플릿 업로드 시 글로벌 C2C 거래로 직결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04 · INNOVATION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Engine 7: 크레딧 실물 경제 연계 (Cash-out &amp; Commerce)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앱 내 보상을 실제 현금과 실물 상품으로 교환하는 닫힌 경제 루프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단순한 포인트가 아닌 실물 경제와 연결되는 순간, 유저는 아워골을 인생의 동반자로 인식합니다.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[CASH-OUT SYSTEM]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현금 출금 (Cash-out System)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일정 수준(예: 30,000 크레딧 이상) 적립 시 등록된 본인 계좌로 현금 출금 지원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출금 시 소정의 플랫폼 환전 수수료(5~10%) 부과 ➔ 추가 수익원 창출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사기/어뷰징 방지: AI 이상 거래 탐지 시스템 및 14일 락업(Lock-up) 기간 적용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동기부여 극대화: '내 습관과 노하우가 진짜 돈이 된다'는 실체적 체감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[COMMERCE FLYWHEEL]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인앱 웰니스 쇼핑 &amp; 제휴 커머스 연동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축적된 크레딧으로 앱 내 제휴 쇼핑몰에서 목표 달성 관련 물품 할인 구매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쿠팡 파트너스 및 브랜드 직제휴: 단백질 보충제, 독서대, 런닝화, 비타민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전환율 극대화: 목표를 달성하는 순간 필요한 물품을 맥락적으로 제안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커머스 수수료 5~15% 획득 및 유저 결제액 마진 확보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05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Product Experience &amp; Technical Architecture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초경량 PWA와 서버리스 엔터프라이즈 아키텍처로 증명하는 기술력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05 · 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Frictionless User Journey: 90초 온보딩 &amp; 120초 아하 모먼트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복잡한 회원가입 장벽을 깨고 2분 안에 첫 가치를 체감하는 온보딩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앱 설치 전 웹 링크에서 먼저 가치를 느끼게 하여 가입 전환율을 65% 이상 끌어올립니다.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[ONBOARDING FUNNEL]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90초 온보딩 퍼널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0~15초: '이루고 싶은 목표가 무엇인가요?' 1줄 입력 (관심 테마 선택)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15~45초: Gemini AI가 3초 만에 3단계 마일스톤과 주간 루틴 자동 생성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45~75초: 소셜 간편 로그인(Google/Apple/카카오)으로 1-클릭 계정 연동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75~90초: 홈 화면에 내 목표 로드맵과 오늘의 체크인 질문 즉시 노출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[AHA! MOMENT]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120초 아하 모먼트 (First Value)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첫 체크인 문장 입력 시 Gemini AI의 따뜻하고 통찰력 있는 첫 코칭 도착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 진행률 게이지가 0% ➔ 3.5%로 실시간 차오르는 시각적 쾌감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웰컴 500 크레딧 적립 및 '같은 목표를 달리는 18명이 함께합니다' 알림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D1 리텐션 60% 달성 및 즉각적 앱 홈 화면 추가(PWA 설치) 유도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05 · 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Instant PWA Distribution: 스토어 통행세 30% 우회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앱스토어 심사 대기 없이 링크 하나로 1초 만에 폰에 설치되는 PWA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스토어 다운로드 이탈율 70%를 극복하고, 결제 수수료 30%를 플랫폼 이익으로 전환합니다.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[PWA ADVANTAGE]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PWA (Progressive Web App)의 전략적 우위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설치 마찰 제로: 앱스토어 로그인, 용량 부족, 다운로드 대기 없이 홈 화면 추가 3초 컷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15분 핫픽스 실시간 반영: 스토어 심사(2~5일) 대기 없이 코드 수정 즉시 전 유저 갱신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인앱결제 30% 수수료 회피: 웹 토스페이먼츠 연동으로 결제 수수료 2.5%로 방어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카카오톡/인스타 링크 클릭 즉시 앱 실행 환경으로 전환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[DISTRIBUTION ROADMAP]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점진적 하이브리드 확장 로드맵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Phase 1 (현재): Vercel + PWA 기반으로 초기 300~5,000명 초고속 온보딩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Phase 2 (W1~M1): PWABuilder TWA 패키징 ➔ 구글 플레이 폐쇄/오픈 테스트 등록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Phase 3 (M1~M2): Capacitor 래핑 ➔ iOS 앱스토어 등록 (푸시 리마인더, 홈 위젯 탑재)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웹의 민첩한 기동성과 앱스토어의 오가닉 검색 유입(ASO)을 100% 동시 장악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05 · 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Full-Stack Architecture: 견고한 서버리스 &amp; RLS 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Supabase PostgreSQL + Vercel Edge + Gemini Flash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월 수천만 원의 인프라 관리 비용 없이 100만 동시접속을 수용하는 모던 클라우드 아키텍처입니다.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[SECURITY &amp; DB]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백엔드 &amp; 데이터 보안 (Supabase)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PostgreSQL 기반 고성능 관계형 데이터베이스 및 자동 pg_cron 스냅샷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Row Level Security (RLS): 익명 마니또 간 개인정보 유출을 DB 레벨에서 원천 차단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테마 기반 공개 RPC (find_similar_users): 허가된 공개 필드만 엄격 조회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실시간 웹소켓 동기화: 마니또 응원 및 피드백 실시간 푸시 수신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[FRONTEND &amp; AI]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프론트엔드 &amp; AI 파이프라인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초경량 순수 모던 웹 스택: 프레임워크 오버헤드 없는 극단적 반응 속도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Service Worker (sw.js): 오프라인 캐싱 지원으로 네트워크 단절 시에도 로컬 기록 보존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Vercel Edge Network: 글로벌 CDN 배포로 전 세계 어디서나 FCP 1.0초 미만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Gemini Flash 연동: 프롬프트 엔지니어링 및 캐싱으로 API 호출 비용 90% 절감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05 · 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Enterprise Data Integrity: 단 1건의 기록도 유실 없는 무결성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소프트 삭제(deleted_at) 및 자동 스냅샷 복구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유저의 땀방울이 담긴 기록은 가장 신성한 자산입니다. 데이터 유실율 0%를 기술로 보증합니다.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[DATA INTEGRITY]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파괴적 삭제 없는 소프트 딜리트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모든 goals 및 checkins 테이블에 `deleted_at` 타임스탬프 적용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사용자가 삭제를 눌러도 물리 삭제(HARD DELETE) 0건, UPDATE로 보관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실수로 삭제한 목표도 설정 메뉴의 '기록 복구'를 통해 1-클릭 원상 복구 지원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데이터 오염 및 동기화 충돌 사고 원천 차단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[OFFLINE &amp; REGRESSION]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오프라인 저장 큐 &amp; 회귀 테스트 20종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지하철/엘리베이터 등 통신 단절 시 IndexedDB 로컬 큐에 안전 저장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네트워크 복구 시 백그라운드 자동 플러시(Flush) 및 서버 동기화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 생성 회귀 테스트 20종(scripts/goal-regression-test.js) CI/CD 연동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배포 전 스모크 테스트 자동 검증으로 무결점 프로덕션 운영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05 · 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Omnichannel Product Roadmap: 4단계 기술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MVP에서 글로벌 멀티플랫폼 엔터프라이즈로의 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검증된 단계별 기술 포팅으로 개발 리스크를 분산하고 효율적인 마켓 진입을 달성합니다.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[CURRENT]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Phase 1: PWA Web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Vercel Edge 배포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지인 300명 코호트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15분 핫픽스 체계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토스페이먼츠 웹결제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PostHog 이벤트 계측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[MONTH 01]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Phase 2: Android TWA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PWABuilder TWA 추출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구글 14일 폐쇄 테스트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플레이스토어 정식 출시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원클릭 구글 결제 연동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ASO 키워드 150개 최적화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[MONTH 02]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Phase 3: iOS Native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Capacitor 래핑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애플 개발자 등록 ($99)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iOS 홈 위젯 &amp; 푸시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앱스토어 피처링 신청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애플 소규모 개발사 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[MONTH 04~06]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Phase 4: Global APAC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영어/일본어 i18n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Product Hunt 론칭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글로벌 Stripe 결제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B2B 사내 챌린지 포털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글로벌 마켓플레이스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06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Market Opportunity &amp; Competitive Moat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글로벌 15조 원 자기관리 시장과 넘볼 수 없는 5계층 방어 해자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06 · MARKET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Total Addressable Market (TAM): 거대하고 폭발적인 시장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생산성 소프트웨어와 웰니스/자기계발 시장의 교차점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전 세계적인 자기효능감 회복 열풍과 AI의 융합으로 시장은 연평균 14.8%로 급팽창하고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563EB"/>
                </a:solidFill>
                <a:latin typeface="Arial"/>
              </a:rPr>
              <a:t>15.2조 원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TAM (글로벌 전체 시장)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글로벌 습관 형성 및 생산성 소프트웨어 시장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0175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0B981"/>
                </a:solidFill>
                <a:latin typeface="Arial"/>
              </a:rPr>
              <a:t>6,800억 원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SAM (국내 유효 시장)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국내 2030 세대 자기계발 및 목표관리 시장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10896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9333EA"/>
                </a:solidFill>
                <a:latin typeface="Arial"/>
              </a:rPr>
              <a:t>340억 원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SOM (국내 초기 수익 시장)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출시 2년 내 목표 국내 고관여 타깃 점유율 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1"/>
            <a:ext cx="10332719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[MARKET TAILWINDS]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시장 성장 동력 (Market Tailwinds)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Gen-Z 및 밀레니얼 세대의 '미라클 모닝', '오운완', '갓생' 트렌드가 일시적 유행을 넘어 영구적 라이프스타일로 정착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생성형 AI 기술의 대중화로 단순 도구(Tool)를 넘어 1:1 개인 코칭(Service)에 지갑을 여는 소비 성향 급증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기업들의 임직원 번아웃 방지 및 사내 웰니스 복지 예산 증액 (B2B 시장의 급속한 개화)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06 · MARKET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Competitive Landscape Matrix: 경쟁사 입체 비교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마이루틴, 챌린저스, 투두이스트 대비 아워골의 독보적 포지셔닝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기존 플레이어들이 채우지 못한 'AI 코칭 + 무공해 소셜 + 크레딧 보상'의 교집합을 독점합니다.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/>
                <a:gridCol w="2194560"/>
                <a:gridCol w="2194560"/>
                <a:gridCol w="2194560"/>
                <a:gridCol w="219456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비교 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마이루틴 (MyRoutine)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챌린저스 (Challengers)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투두이스트 / 노션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아워골 (OurGoal)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F172A"/>
                          </a:solidFill>
                          <a:latin typeface="Malgun Gothic"/>
                        </a:rPr>
                        <a:t>관리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단순 루틴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미션/돈 베팅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할 일(Todo) 나열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2563EB"/>
                          </a:solidFill>
                          <a:latin typeface="Malgun Gothic"/>
                        </a:rPr>
                        <a:t>목표 ➔ 마일스톤 ➔ 루틴 입체 연계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F172A"/>
                          </a:solidFill>
                          <a:latin typeface="Malgun Gothic"/>
                        </a:rPr>
                        <a:t>AI 코칭 기술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없음 (단방향 체크)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단순 텍스트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2563EB"/>
                          </a:solidFill>
                          <a:latin typeface="Malgun Gothic"/>
                        </a:rPr>
                        <a:t>Gemini 맞춤 페이스메이커 실시간 코칭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F172A"/>
                          </a:solidFill>
                          <a:latin typeface="Malgun Gothic"/>
                        </a:rPr>
                        <a:t>소셜 인터랙션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공개 피드 (과시/비교 피로)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인증샷 심사 (도박적 긴장)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개인 전용 (소셜 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2563EB"/>
                          </a:solidFill>
                          <a:latin typeface="Malgun Gothic"/>
                        </a:rPr>
                        <a:t>무공해 동류 매칭 &amp; 1-Tap 익명 마니또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0F172A"/>
                          </a:solidFill>
                          <a:latin typeface="Malgun Gothic"/>
                        </a:rPr>
                        <a:t>유저 보상 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유료 결제 유도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상금 환급 (스트레스 유발)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334155"/>
                          </a:solidFill>
                          <a:latin typeface="Malgun Gothic"/>
                        </a:rPr>
                        <a:t>없음 (월 구독료 지출)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2563EB"/>
                          </a:solidFill>
                          <a:latin typeface="Malgun Gothic"/>
                        </a:rPr>
                        <a:t>출석/기록 크레딧 ➔ 템플릿 마켓 &amp; 실물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06 · MARKET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Why Incumbents Can't Easily Copy: 혁신자의 딜레마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기존 선도 앱들이 아워골의 모델을 쉽게 따라올 수 없는 구조적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기존 앱의 레거시 비즈니스 모델과 복잡한 코드는 아워골의 미니멀리즘과 크레딧 경제를 모방하지 못합니다.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[INCUMBENT TRAP]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기존사들의 구조적 한계 (Incumbent Dilemma)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수익 모델 충돌: 기존 앱들은 기능 제한 페이월로 돈을 벌고 있어, 아워골처럼 무료로 개방하고 C2C 마켓으로 전환 시 매출 급감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과시형 피드의 매몰비용: 인플루언서 중심의 공개 피드를 구축해 놓았기 때문에, 이를 '무공해 익명 동류'로 바꾸면 기존 파워유저 반발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레거시 아키텍처: 무거운 프레임워크와 거대 팀으로 인해 15분 단위 핫픽스 및 극단적 UI 커스텀 불가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크레딧 경제 구축 리스크: 토큰 이코노미 설계 미숙으로 인한 어뷰징 방어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[OURGOAL SPEED]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아워골의 독점적 스피드 우위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처음부터 '본질 중심 + C2C 마켓'으로 설계된 네이티브 아키텍처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자율 AI 에이전트 편대로 타사가 6개월 걸릴 신기능을 단 3일 만에 배포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상민 대표의 확고한 본질 철학: 가짜 데이터 배제, 순수 실사용자 연대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경쟁사가 대응을 논의하는 동안 아워골은 10만 명 코호트를 선점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06 · MARKET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5-Layer Defensible Moat: 철옹성 같은 5계층 해자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시간이 흐를수록 경쟁사와의 격차를 벌리는 방어선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네트워크 효과, 크레딧 자산, 고유 데이터셋이 결합되어 이탈이 불가능한 강력한 락인을 만듭니다.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1. 데이터 해자 (Data Moat)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수십만 건의 '도움돼요' 사유 DB 및 목표 달성 실패/성공 코호트 데이터 독점.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2. 네트워크 효과 (Network Effects)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템플릿을 올리는 크리에이터와 복제하는 유저 간의 양면 시장(Two-sided Market) 선점.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28416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3814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3. 전환 비용 (Switching Costs)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수개월간 쌓아온 나만의 스트릭, 5단위 회고 기록, 축적된 크레딧 자산으로 앱 이동 불가.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9664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4. 비용 우위 해자 (Cost Moat)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AI 자율 개발 조직과 초경량 LLM 연동으로 경쟁사 대비 1/10 수준의 극단적 저비용 운영.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10912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5. 브랜드 신뢰 (Trust Moat)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과시와 피로가 없는 유일한 '무공해 목표 안식처'라는 2030 세대의 절대적 팬덤 형성.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06 · MARKET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Target Customer Personas: 4대 핵심 고관여 타깃 ICP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가장 절박하게 목표를 달성해야 하고 지갑을 열 준비가 된 고객군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취준생, 시험 수험생, 헬스 도전자, 1인 창업가는 목표 완주에 기꺼이 유료 결제를 집행합니다.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Persona 1: 취준/이직러 (25~32세)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[핵심 목표]
</a:t>
            </a:r>
            <a:r>
              <a:rPr sz="880">
                <a:solidFill>
                  <a:srgbClr val="334155"/>
                </a:solidFill>
                <a:latin typeface="Malgun Gothic"/>
              </a:rPr>
              <a:t>공기업/대기업 취업, 이직 포트폴리오 완성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[선호 기능]
</a:t>
            </a:r>
            <a:r>
              <a:rPr sz="880">
                <a:solidFill>
                  <a:srgbClr val="334155"/>
                </a:solidFill>
                <a:latin typeface="Malgun Gothic"/>
              </a:rPr>
              <a:t>합격자 템플릿 복사, 주간 AI 코칭 리포트, 마일스톤 관리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[수익화 접점]
</a:t>
            </a:r>
            <a:r>
              <a:rPr sz="880">
                <a:solidFill>
                  <a:srgbClr val="334155"/>
                </a:solidFill>
                <a:latin typeface="Malgun Gothic"/>
              </a:rPr>
              <a:t>Pro 구독, 유료 템플릿 결제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Persona 2: 전문직 수험생 (22~29세)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[핵심 목표]
</a:t>
            </a:r>
            <a:r>
              <a:rPr sz="880">
                <a:solidFill>
                  <a:srgbClr val="334155"/>
                </a:solidFill>
                <a:latin typeface="Malgun Gothic"/>
              </a:rPr>
              <a:t>CPA, 로스쿨, 노무사, 기사 자격증 완주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[선호 기능]
</a:t>
            </a:r>
            <a:r>
              <a:rPr sz="880">
                <a:solidFill>
                  <a:srgbClr val="334155"/>
                </a:solidFill>
                <a:latin typeface="Malgun Gothic"/>
              </a:rPr>
              <a:t>일일 순공시간 체크인, 고스트 방지 익명 마니또, 오프라인 캐싱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[수익화 접점]
</a:t>
            </a:r>
            <a:r>
              <a:rPr sz="880">
                <a:solidFill>
                  <a:srgbClr val="334155"/>
                </a:solidFill>
                <a:latin typeface="Malgun Gothic"/>
              </a:rPr>
              <a:t>Pro 구독, 100일 챌린지 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Persona 3: 바디프로필 도전자 (24~35세)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[핵심 목표]
</a:t>
            </a:r>
            <a:r>
              <a:rPr sz="880">
                <a:solidFill>
                  <a:srgbClr val="334155"/>
                </a:solidFill>
                <a:latin typeface="Malgun Gothic"/>
              </a:rPr>
              <a:t>체지방 감량, 식단 및 3대 운동 기록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[선호 기능]
</a:t>
            </a:r>
            <a:r>
              <a:rPr sz="880">
                <a:solidFill>
                  <a:srgbClr val="334155"/>
                </a:solidFill>
                <a:latin typeface="Malgun Gothic"/>
              </a:rPr>
              <a:t>식단/운동 체크인, 성취 내러티브 카드 인스타 공유, 잇템 제휴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[수익화 접점]
</a:t>
            </a:r>
            <a:r>
              <a:rPr sz="880">
                <a:solidFill>
                  <a:srgbClr val="334155"/>
                </a:solidFill>
                <a:latin typeface="Malgun Gothic"/>
              </a:rPr>
              <a:t>단백질/장비 커머스 구매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Persona 4: 1인 창업/N잡러 (28~39세)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[핵심 목표]
</a:t>
            </a:r>
            <a:r>
              <a:rPr sz="880">
                <a:solidFill>
                  <a:srgbClr val="334155"/>
                </a:solidFill>
                <a:latin typeface="Malgun Gothic"/>
              </a:rPr>
              <a:t>월 매출 목표 달성, MVP 런칭, 사이드 프로젝트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[선호 기능]
</a:t>
            </a:r>
            <a:r>
              <a:rPr sz="880">
                <a:solidFill>
                  <a:srgbClr val="334155"/>
                </a:solidFill>
                <a:latin typeface="Malgun Gothic"/>
              </a:rPr>
              <a:t>'앱을 내맘대로' 생산성 대시보드 커스텀, 업무 마일스톤 연계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2563EB"/>
                </a:solidFill>
                <a:latin typeface="Malgun Gothic"/>
              </a:rPr>
              <a:t>[수익화 접점]
</a:t>
            </a:r>
            <a:r>
              <a:rPr sz="880">
                <a:solidFill>
                  <a:srgbClr val="334155"/>
                </a:solidFill>
                <a:latin typeface="Malgun Gothic"/>
              </a:rPr>
              <a:t>연간 Pro 멤버십, B2B 도입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07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The Money Machine — Business Model &amp; Monetization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참여를 현금으로 전환하는 5대 고수익 머니 파이프라인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07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5-Pillar Monetization Strategy: 다각화 수익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단일 광고 의존 탈피 ➔ SaaS 구독 + 마켓 수수료 + 커머스 + B2B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경기 변동에 흔들리지 않는 견고하고 다각화된 5대 수익 파이프라인을 구축합니다.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16459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[PILLAR 01]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1. C2C 템플릿 마켓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플랫폼 수수료 30%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유료 템플릿 결제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크레딧 환전 수수료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예상 비중: 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10512"/>
            <a:ext cx="16459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[PILLAR 02]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2. B2C Pro 멤버십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월 4,900원 / 연 49,000원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무제한 AI 심층 코칭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무제한 마일스톤/프리즈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예상 비중: 53%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810512"/>
            <a:ext cx="16459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[PILLAR 03]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3. 제휴 커머스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쿠팡 파트너스 연계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 맞춤 잇템 5~15%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인앱 크레딧 쇼핑몰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예상 비중: 12%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4592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810512"/>
            <a:ext cx="16459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[PILLAR 04]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4. B2B 웰니스/학원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사내 목표 관리 SaaS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학원 완주 보증 수수료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기업당 월 100만~300만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예상 비중: 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645920"/>
            <a:ext cx="19202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810512"/>
            <a:ext cx="15544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[PILLAR 05]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5. 브랜드 스폰서십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비침해형 네이티브 챌린지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브랜드 미션 스폰서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고신뢰 CPA 보상형 광고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예상 비중: 3%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07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Pillar 1: C2C Goal Template Marketplace (30% Take 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타인의 검증된 100일 로드맵을 사고파는 지식 경제 마켓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우수한 목표를 설계한 크리에이터가 돈을 벌고, 플랫폼은 30%의 무재고 수수료를 취합니다.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[UNIT ECONOMICS]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가격 구조 및 거래 시나리오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기본 템플릿: 무료 (단, 다운로드 시 플랫폼이 크리에이터에게 크레딧 보상)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프리미엄 전문가 템플릿: 건당 2,900원 ~ 19,900원 유료 결제 지원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수수료 배분: 크리에이터 70% 지급, 아워골 플랫폼 30% 수취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거래 예시: [비전공자 네카라쿠배 합격 100일 템플릿] 9,900원 ➔ 1,000건 판매 시 플랫폼 순익 297만 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[SCALE-UP POTENTIAL]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스케일업 잠재력 (Network Effect)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공급자 락인: 전문 트레이너, 강사, 인플루언서가 아워골을 자신의 수익화 채널로 활용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수요자 가치: 맨땅에 헤딩하지 않고 검증된 선배의 로드맵을 즉시 내 캘린더에 동기화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플랫폼 해자: 템플릿 거래 건수가 늘어날수록 타 플랫폼으로의 이탈 불가능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3년차 목표: 연간 템플릿 거래액 30억 원 돌파 ➔ 연 수수료 매출 9.2억 원 확보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07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Pillar 2: B2C Premium Membership (OurGoal Pro)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월 4,900원 / 연 49,000원의 압도적 가치 제안 구독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커피 한 잔 가격으로 누리는 개인 전담 AI 라이프 코치와 무제한 회복 안전망입니다.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[PRO BENEFITS]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OurGoal Pro 전용 독점 혜택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Gemini 기반 심층 주간 성취 리포트 (정성적 총평 + 슬럼프 탈출 제안)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무제한 활성 목표 및 서브 마일스톤 생성 (무료 버전은 최대 3개)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무제한 스트릭 프리즈 (Streak Freeze) 및 과거 누락 체크인 소급 기록권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고급 통계 히트맵 분석 및 CSV/PDF 완주 인증서 다운로드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프로필 골드 배지 및 템플릿 마켓 상시 20% 할인 쿠폰북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[PAYWALL OPTIMIZATION]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가격 앵커링 &amp; 전환 최적화 (Paywall A/B)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심리적 가격 앵커링: [월 12,900원 / 연 99,000원]을 정가로 노출하고 60% 얼리버드 할인가(월 4,900원) 제시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14일 무료 체험(Free Trial) 후 자동 결제 전환 퍼널 가동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유료 전환율 타깃: 전체 가입자의 3.5% (SaaS 업계 상위 10% 수준)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예상 매출 기여: 1년차 1.2억 원 ➔ 3년차 19.5억 원 (전체 매출의 53% 견인)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07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Pillar 3: Curated Affiliate Commerce &amp; In-App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목표를 달성하는 순간 필요한 물품을 맥락적으로 연결하는 커머스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유저의 목표 맥락(Context)을 알고 있기에 일반 광고 대비 5배 높은 구매 전환율(8~15%)을 달성합니다.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[CONTEXTUAL COMMERCE]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맥락적 잇템 큐레이션 (Contextual Suggestion)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운동/헬스 목표 유저 ➔ 체크인 10일 차에 '피로 회복용 BCAA 및 스트랩' 추천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공부/자격증 목표 유저 ➔ D-30일 차에 '독서대, 타이머, 집중력 영양제' 추천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어학/회화 목표 유저 ➔ 중급 마일스톤 돌파 시 '원어민 튜터링 이용권' 추천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거부감 없는 추천: 유저가 실제 필요로 하는 시점에만 정밀하게 노출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[HIGH MARGIN COMMERCE]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수수료 구조 및 크레딧 결제 연동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쿠팡 파트너스 API 및 브랜드 직제휴: 건당 결제액의 5~15% 중개 수수료 수취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재고 부담 0%: 100% 드롭쉬핑/제휴 링크 아웃링크 방식으로 운영 리스크 제로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크레딧 복합 결제: 유저가 모은 크레딧으로 결제액의 최대 30% 할인 지원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3년차 목표: 월 거래액 3억 원 달성 ➔ 연간 커머스 수수료 4.5억 원 수취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07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Pillar 4: B2B Corporate Wellness &amp; Academy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기업 임직원 목표 관리 SaaS 및 스터디 학원 수강생 완주 솔루션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개인 B2C를 넘어 안정적인 연간 B2B 엔터프라이즈 계약으로 ARR(연간 반복 매출)을 확보합니다.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[B2B WELLNESS]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B2B 사내 웰니스 &amp; 온보딩 포털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대상: 스타트업 및 중견기업 인사팀 (신입사원 온보딩, 사내 건강 챌린지)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제공 솔루션: 사내 전용 챌린지 룸, 부서별 익명 마니또, 임직원 웰니스 리포트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과금 모델: 임직원 인당 월 5,000원 또는 기업당 월 100만~300만 원 구독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효과: 임직원 번아웃 조기 감지 및 사내 유대감 강화로 이직률 20% 감소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[ACADEMY PARTNERSHIP]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스터디/어학원 완주 보증 연계 (CPA)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대상: 대형 토익 학원, 공무원 수험 학원, 코딩 부트캠프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솔루션: 수강생 100일 출석/과제 완주 보증 시스템 및 환급 대행 운영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비즈니스 모델: 학원 수강료의 10%를 완주 관리 운영 수수료로 수취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초기 파일럿: 런칭 3개월 차 대형 스터디 학원 3곳과 파일럿 계약 체결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07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Phased Monetization Strategy: 단계별 수익화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초기 마찰 제로 유입 ➔ 트랙션 확보 후 강력한 과금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초기 1개월간 전면 무료화로 300~5,000명의 열성 코호트를 만들고, 순차적으로 머니 파이프라인을 개방합니다.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Phase 1: D0 ~ W4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Malgun Gothic"/>
              </a:rPr>
              <a:t>0원 진입장벽 &amp; 트랙션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334155"/>
                </a:solidFill>
                <a:latin typeface="Malgun Gothic"/>
              </a:rPr>
              <a:t>전면 무료화로 지인 300명 및 초기 유저 확보. PWA 3초 설치로 CAC $0 유입 극대화. 제품 본질 만족도 검증.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Phase 2: M2 ~ M3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Malgun Gothic"/>
              </a:rPr>
              <a:t>Pro 페이월 &amp; 템플릿 마켓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334155"/>
                </a:solidFill>
                <a:latin typeface="Malgun Gothic"/>
              </a:rPr>
              <a:t>OurGoal Pro 구독 출시. 토스페이먼츠 연동. 템플릿 마켓플레이스 오픈 및 크리에이터 로열티 개시.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Phase 3: M4 ~ M6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Malgun Gothic"/>
              </a:rPr>
              <a:t>커머스 &amp; B2B 본격 가동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334155"/>
                </a:solidFill>
                <a:latin typeface="Malgun Gothic"/>
              </a:rPr>
              <a:t>크레딧 실물 쇼핑몰 연동. 쿠팡 파트너스 잇템 큐레이션. 기업 웰니스 파일럿 3사 계약 체결.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Phase 4: M7 이후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Malgun Gothic"/>
              </a:rPr>
              <a:t>글로벌 확장 &amp; 멀티플라이어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334155"/>
                </a:solidFill>
                <a:latin typeface="Malgun Gothic"/>
              </a:rPr>
              <a:t>일본/북미 다국어 배포 및 해외 Stripe 결제 개방. 월간 반복 매출(MRR) 1억 원 돌파 목표.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08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Growth Engine &amp; Go-To-Market Strategy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CAC를 제로에 수렴시키는 오가닉 바이럴 엔진과 4단계 폭풍 스케일업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08 · GROWTH &amp;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Viral K-Factor Engine: 자발적 확산 바이럴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목표 K-Factor 0.42를 달성하는 3대 바이럴 메커니즘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유저 1명이 들어올 때마다 0.42명의 친구를 자연스럽게 데려오는 오가닉 구조를 완성했습니다.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[VIRAL CARD]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1. Spotify 스타일 성취 카드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매주 일요일 저녁 주간 성취 카드 자동 발행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인스타그램 스토리 1-클릭 공유 최적화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카드 하단에 고유 초대 링크 및 QR 코드 삽입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주간 활성 유저의 18%가 자발적 SNS 인증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29260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[PEER INVITE]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2. '함께 목표' 방 초대 루프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친구와 1:1 또는 5인 소그룹 '마라톤 완주방' 개설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카카오톡 공유 시 앱 설치 없이 웹에서 바로 수락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초대한 사람과 가입한 친구 모두에게 500 크레딧 지급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초대 전환율: 발송 메시지 대비 가입률 34%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30175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[CLONE VIRAL]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3. 목표 구조 복제 크레딧 보상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내가 만든 로드맵을 친구가 복제할 때마다 50 크레딧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크리에이터가 자신의 수험 템플릿을 오픈채팅에 공유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대규모 수험생 커뮤니티로의 2차 오가닉 바이럴 확산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마케팅비 없이 K-factor 0.42 달성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08 · GROWTH &amp;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Organic Zero-CAC Channels: 무료 오가닉 유입 채널 5선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유료 광고 집행 전 커뮤니티 침투로 초기 5,000명 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스레드, 카카오 오픈채팅, 인스타 숏폼, 디스콰이엇을 통해 진성 유저를 0원에 획득합니다.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1. 스레드 창업자 계정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창업자의 솔직한 개발 일지와 작심삼일 극복기 연재. 첫 댓글에 PWA 설치 링크 고정. 월 5만 뷰 유입.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2. 카카오 오픈채팅 갓생방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'2026 목표 달성 챌린지방' 10개 개설. 매일 체크인 넛지 공유 및 초대 코드 배포.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28416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3814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3. 인스타/유튜브 숏폼 3계정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AI 기반 목표 달성 숏폼(릴스/쇼츠) 60편 선제작. 프로필 링크로 PWA 즉각 유입.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9664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4. 디스콰이엇 &amp; 프로덕트헌트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프로덕트 메이커로그 연재 및 IT 얼리어답터 대상 런칭 피처링 노미네이션 확보.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10912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5. 대학/수험 커뮤니티 침투 — </a:t>
            </a:r>
            <a:r>
              <a:rPr sz="1000">
                <a:solidFill>
                  <a:srgbClr val="334155"/>
                </a:solidFill>
                <a:latin typeface="Malgun Gothic"/>
              </a:rPr>
              <a:t>에브리타임, 취업 카페, 독편사 등에 '합격자가 만든 무료 목표 템플릿' 배포.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08 · GROWTH &amp;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Paid Acquisition Strategy: 나노 인플루언서 &amp; 고효율 메타 광고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검증된 채널에만 예산을 투입하는 엄격한 ROAS 게이트 운영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CAC가 LTV의 1/3 이하로 통제되는 채널에만 선별적으로 유료 예산을 집행합니다.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[INFLUENCER NETWORK]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나노 인플루언서 30명 앰배서더 프로그램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팔로워 1,000~10,000명의 갓생/공스타/헬스타 나노 크리에이터 30명 섭외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고비용 협찬비 대신 '본인 전용 목표 템플릿 마켓 수익 80%' 인센티브 부여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크리에이터가 본인 피드에 자신의 템플릿을 열정적으로 홍보 ➔ 진성 팬 유입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비용 효율성: 건당 3~5만 원 수준의 극저비용으로 수만 명의 잠재 고객 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[ROAS GATE ADS]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엄격한 ROAS 게이트 기반 Meta/TikTok 광고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일 3만 원 소액 테스트로 시작하여 D7 리텐션과 CAC를 실측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게이트 원칙: D7 ROAS ≥ 1.2x 및 CAC ≤ 8,000원 달성 채널만 증액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소재 A/B 테스트: '작심삼일 자책하지 마세요' vs '내 목표 3초 체크인'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새해 시즌(12/26~1/7) 피크 집중 집행: 전 국민 결심 시즌에 예산 70% 집중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08 · GROWTH &amp;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4-Month Traction Roadmap: 10만 명 돌파 실행 일정표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D0(50명) ➔ W1(300명) ➔ M1(5천명) ➔ M2(3만명) ➔ M4(10만명/매출 2억)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철저히 숫자로 통제되는 4단계 실행으로 4개월 내 시장 지배력을 확보합니다.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[COHORT (W1)]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D0 ~ W1: 코호트 검증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목표: 300명 실유저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PWA 링크 1초 설치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지인 50명 + 갓생방 10개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Mom Test 통화 10명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15분 핫픽스 20회 집행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D1 리텐션 60% 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[LAUNCH (M1)]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M1: 스토어 론칭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목표: 5,000명 돌파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구글 플레이 / iOS 배포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숏폼 60편 오가닉 유입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앰배서더 10명 확보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ASO 키워드 상위 노출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D7 리텐션 22% 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[MONETIZE (M2~3)]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M2~M3: 수익화 가동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목표: 30,000명 / 5천만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OurGoal Pro 구독 출시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템플릿 마켓플레이스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나노 인플루언서 30명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B2B 파일럿 3사 계약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K-Factor 0.42 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810512"/>
            <a:ext cx="21031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9333EA"/>
                </a:solidFill>
                <a:latin typeface="Arial"/>
              </a:rPr>
              <a:t>[SCALE (M4)]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M4: 새해 총력전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목표: 100,000명 / 2억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12/26~1/7 새해 캠페인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앱스토어 피처링 선정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B2C 1.2억 + B2B 5천만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웹 매출 비중 30% 확보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월 30% 성장 루프 완성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09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Financial Model, Unit Economics &amp; Projections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철저한 데이터 모델링으로 검증된 재무 건전성과 고수익률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09 · 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Unit Economics Deep Dive: 압도적인 5.2x LTV:CAC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CAC $5.70 대비 LTV $29.50으로 페이백 42일 이내 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고효율 바이럴과 고마진 구독/수수료 모델이 결합되어 매우 건전한 유닛 경제학을 증명합니다.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1945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563EB"/>
                </a:solidFill>
                <a:latin typeface="Arial"/>
              </a:rPr>
              <a:t>38,500원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고객 생애 가치 (LTV)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평균 유지기간 8.5개월 x 월평균 공헌이익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783080"/>
            <a:ext cx="21945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0B981"/>
                </a:solidFill>
                <a:latin typeface="Arial"/>
              </a:rPr>
              <a:t>7,400원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고객 획득 비용 (CAC)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바이럴 K-factor(0.42) 결합 블렌디드 CAC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21945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9333EA"/>
                </a:solidFill>
                <a:latin typeface="Arial"/>
              </a:rPr>
              <a:t>5.2x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LTV : CAC 비율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VC 최상위 벤치마크(3.0x)를 압도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21945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59E0B"/>
                </a:solidFill>
                <a:latin typeface="Arial"/>
              </a:rPr>
              <a:t>42일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CAC 페이백 기간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Malgun Gothic"/>
              </a:rPr>
              <a:t>가입 42일 이내 마케팅비 전액 회수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2"/>
            <a:ext cx="4846320" cy="15910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[CONVERSION METRICS]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전환율 및 이탈률 세부 가정 (Key Assumptions)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무료 가입자 ➔ Pro 유료 구독 전환율: 3.5% (국내 생산성 앱 평균 2.0% 상회)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Pro 멤버십 월간 이탈률(Monthly Churn): 4.1% (스트릭 프리즈로 극단적 방어)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연간 구독 결제 비중: 42% (초기 현금 흐름 대폭 개선)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05072"/>
            <a:ext cx="4846320" cy="15910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[EXPANSION REVENUE]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추가 수익 기여도 (Expansion Revenue)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템플릿 마켓 인당 평균 소비액: 활성 유저당 연 3,200원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제휴 커머스 인당 기여 마진: 구매 유저당 연 4,800원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결과: 구독 외 부가 수익으로 유저당 LTV가 매년 25% 복리 증가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09 · 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3-Year Comprehensive Income Statement: 추정 손익계산서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1년차 2.1억 ➔ 2년차 11.5억 ➔ 3년차 36.8억 원 초고속 성장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1년차부터 흑자를 달성하며, 3년차에는 영업이익률 51.9%(19.1억 원)의 고수익 기업으로 도약합니다.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재무 항목 (단위: 백만 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1년차 (2027)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2년차 (2028)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3년차 (2029)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CAGR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월간 활성 유저 (MAU)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100,000명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450,000명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1,200,000명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+246%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오가닉+퍼포먼스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총 매출액 (Revenue)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1,150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3,680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+318%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SaaS+마켓+B2B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매출원가 (COGS / 서버)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+255%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원가율 8~11% 방어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매출총이익 (Gross Profit)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185 (88.1%)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1,040 (90.4%)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3,360 (91.3%)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+325%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초고마진 소프트웨어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영업이익 (Operating Profit)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Malgun Gothic"/>
                        </a:rPr>
                        <a:t>65 (31.0%)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Malgun Gothic"/>
                        </a:rPr>
                        <a:t>560 (48.7%)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Malgun Gothic"/>
                        </a:rPr>
                        <a:t>1,910 (51.9%)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+442%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4155"/>
                          </a:solidFill>
                          <a:latin typeface="Malgun Gothic"/>
                        </a:rPr>
                        <a:t>1년차부터 당기순익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09 · 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Revenue Breakdown Evolution: 3개년 매출 포트폴리오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구독 중심에서 C2C 마켓과 B2B 엔터프라이즈로 다변화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초기 B2C 구독으로 안정적 현금 흐름을 확보하고, 마켓플레이스와 B2B로 레버리지를 일으킵니다.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[YEAR 1 (2027)]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1년차: 구독 중심 (2.1억 원)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B2C Pro 멤버십: 1.2억 원 (57.1%)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C2C 템플릿 마켓: 4,500만 원 (21.4%)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제휴 커머스: 2,500만 원 (11.9%)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B2B 챌린지: 2,000만 원 (9.5%)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특징: 얼리버드 구독 전환과 코호트 락인에 집중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292608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[YEAR 2 (2028)]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2년차: 마켓 확장 (11.5억 원)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B2C Pro 멤버십: 6.2억 원 (53.9%)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C2C 템플릿 마켓: 2.8억 원 (24.3%)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제휴 커머스: 1.3억 원 (11.3%)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B2B 챌린지: 1.2억 원 (10.4%)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특징: 크리에이터 생태계 활성화로 거래액 10억 돌파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30175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[YEAR 3 (2029)]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3년차: 유니콘 파이프라인 (36.8억 원)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B2C Pro 멤버십: 19.5억 원 (53.0%)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C2C 템플릿 마켓: 9.2억 원 (25.0%)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제휴 커머스: 4.5억 원 (12.2%)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• B2B 챌린지: 3.6억 원 (9.8%)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특징: 글로벌(일본/미국) 매출 비중 20% 달성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09 · 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Cash Flow &amp; Break-Even: 런칭 8개월 차 월간 흑자 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월 수천만 원 인건비 소진이 없는 극단적 린(Lean) 재무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번레이트를 완벽히 통제하여 투자금 전액을 고객 획득(마케팅)에 집중 투자할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[BREAK-EVEN ANALYSIS]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손익분기점 (BEP) 달성 경로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고정비 구조: 사무실 임대료 0원, 개발 외주비 0원, 월 인프라비 100만 원 미만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BEP 달성 기준: 월 유료 구독자 1,200명 확보 시 고정비 전액 충당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월간 BEP 돌파 시점: 런칭 8개월 차 (2027년 5월) 월간 흑자 달성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이후 발생하는 모든 추가 매출은 88% 이상의 순수 영업이익으로 직결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[SAFE RUNWAY]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런웨이 (Runway) 절대 안전 확보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투자 유치 목표액: 3억 ~ 5억 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월간 기본 번레이트: 1,000만~1,500만 원 (마케팅비 포함)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무매출 가동 가능 기간(Runway): 24개월 이상 절대 안전 확보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투자 리스크 제로화: 자금 고갈로 인한 폐업 리스크가 구조적으로 불가능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Arial"/>
              </a:rPr>
              <a:t>PART 10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Team, AI Super-Organization &amp; The Ask</a:t>
            </a:r>
          </a:p>
          <a:p>
            <a:r>
              <a:rPr sz="1500">
                <a:solidFill>
                  <a:srgbClr val="CBD5E1"/>
                </a:solidFill>
                <a:latin typeface="Malgun Gothic"/>
              </a:rPr>
              <a:t>세계 최초 AI 자율 개발 편대와 15~50배 Exit 시나리오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10 · TEAM &amp; 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Founder: 상민 (Chief Commander &amp; Product Architect)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비전 수립 · 비즈니스 설계 · 사용자 본질 지휘를 총괄하는 슈퍼 파운더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복잡한 거품을 걷어내고 유저에게 꼭 필요한 본질을 꿰뚫는 날카로운 제품 감각의 청년 창업가입니다.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[FOUNDER DNA]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상민 대표의 핵심 역량 및 철학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나이/자격: 만 29세 청년 창업가 (생애최초 청년 가점 및 미래형 창업가)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제품 철학: '가짜 지표로 속이지 않고, 진짜 유저의 땀방울을 지키는 본질 중심 설계'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AI 지휘 역량: 최신 AI 에이전트 편대를 능수능란하게 조련하여 10인 개발팀 이상의 산출물 산출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의사결정 스타일: 데이터와 측정에 근거한 타협 없는 초고속 실행력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[LEVERAGE]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1인 슈퍼 파운더가 이끄는 거대한 레버리지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전통 스타트업의 맹점: 팀원 간 소통 비용, 지분 갈등, 퇴사로 인한 프로젝트 지연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아워골의 해법: 의사결정권자 1인이 AI 조직을 직접 지휘하여 병목 제로 달성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투자자 관점의 장점: 지분 구조의 극단적 단순함 및 흔들림 없는 일관된 방향성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비전: '한국에서 가장 적은 인원으로 가장 큰 매출을 내는 1인 유니콘 탄생'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10 · TEAM &amp; 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World's First AI-Native Engineering Fleet: AI 자율 개발 조직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양비스 커맨드센터 + Antigravity + Claude Code 삼각 편대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사람 개발자 채용 없이 24시간 무중단 개발과 품질 관제를 실현하는 세계 유일의 조직입니다.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Malgun Gothic"/>
              </a:rPr>
              <a:t>양비스 커맨드센터 (Jarvis Command Center)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64748B"/>
                </a:solidFill>
                <a:latin typeface="Malgun Gothic"/>
              </a:rPr>
              <a:t>24시간 실시간 지휘 &amp; 관제</a:t>
            </a:r>
          </a:p>
          <a:p>
            <a:pPr>
              <a:spcBef>
                <a:spcPts val="1000"/>
              </a:spcBef>
            </a:pPr>
            <a:r>
              <a:rPr sz="950">
                <a:solidFill>
                  <a:srgbClr val="334155"/>
                </a:solidFill>
                <a:latin typeface="Malgun Gothic"/>
              </a:rPr>
              <a:t>HUD 모니터링, 본질 감시 게이트(Essence Gate), 3자 상호 동기화(Tri-Sync) 총괄.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Malgun Gothic"/>
              </a:rPr>
              <a:t>Antigravity (Google Full-Stack Agent)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64748B"/>
                </a:solidFill>
                <a:latin typeface="Malgun Gothic"/>
              </a:rPr>
              <a:t>아키텍처 설계 &amp; 고난도 구현</a:t>
            </a:r>
          </a:p>
          <a:p>
            <a:pPr>
              <a:spcBef>
                <a:spcPts val="1000"/>
              </a:spcBef>
            </a:pPr>
            <a:r>
              <a:rPr sz="950">
                <a:solidFill>
                  <a:srgbClr val="334155"/>
                </a:solidFill>
                <a:latin typeface="Malgun Gothic"/>
              </a:rPr>
              <a:t>Supabase DB 모델링, 모던 PWA 풀스택 코딩, 7대 엔진 핵심 알고리즘 구현.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Malgun Gothic"/>
              </a:rPr>
              <a:t>Claude Code (Anthropic Hotfix Agent)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64748B"/>
                </a:solidFill>
                <a:latin typeface="Malgun Gothic"/>
              </a:rPr>
              <a:t>15분 핫픽스 &amp; 코드 무결성</a:t>
            </a:r>
          </a:p>
          <a:p>
            <a:pPr>
              <a:spcBef>
                <a:spcPts val="1000"/>
              </a:spcBef>
            </a:pPr>
            <a:r>
              <a:rPr sz="950">
                <a:solidFill>
                  <a:srgbClr val="334155"/>
                </a:solidFill>
                <a:latin typeface="Malgun Gothic"/>
              </a:rPr>
              <a:t>사용자 버그 리포트 15분 내 수정 배포, 20종 회귀 테스트 및 스모크 테스트 자동화.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PART 10 · TEAM &amp; 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Malgun Gothic"/>
              </a:rPr>
              <a:t>The Investment Ask: 투자 조건 및 자금 배분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Malgun Gothic"/>
              </a:rPr>
              <a:t>3억 ~ 5억 원 유치 희망 (Post-Valuation 30억 ~ 50억 원 기준)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KEY TAKEAWAY: </a:t>
            </a:r>
            <a:r>
              <a:rPr sz="1000" b="1">
                <a:solidFill>
                  <a:srgbClr val="0F172A"/>
                </a:solidFill>
                <a:latin typeface="Malgun Gothic"/>
              </a:rPr>
              <a:t>투자금의 60%를 마케팅과 그로스 엔진에 집중 투입하여 즉각적인 J-커브를 완성합니다.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[DEAL TERMS]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투자 조건 및 밸류에이션 (Deal Terms)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투자 유치 목표: 3억 ~ 5억 원 (Seed / Pre-A 라운드)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기업 가치 (Post-Money Valuation): 30억 ~ 50억 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제공 지분율: 10% (신주 발행)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투자 형태: 상환전환우선주(RCPS) 또는 보통주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투자자 우대: 후속 라운드(Series A) 우선 투자권 및 이사회 옵서버 자격 부여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78561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[USE OF FUNDS] </a:t>
            </a:r>
            <a:r>
              <a:rPr sz="1300" b="1">
                <a:solidFill>
                  <a:srgbClr val="0F172A"/>
                </a:solidFill>
                <a:latin typeface="Malgun Gothic"/>
              </a:rPr>
              <a:t>투자 자금 집행 계획 (Use of Funds)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마케팅 &amp; 고객 획득 (60%, 2.4억): 나노 인플루언서 30명, 고효율 메타 광고, 새해 캠페인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클라우드 &amp; 글로벌 인프라 (20%, 0.8억): Supabase Enterprise, 글로벌 CDN, Stripe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지식재산권(IP) 확보 (10%, 0.4억): 글로벌 상표권(미/일/한) 및 BM 특허 3건 출원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Malgun Gothic"/>
              </a:rPr>
              <a:t>• 예비 운영비 &amp; 크레딧 풀 (10%, 0.4억): 초기 유저 온보딩 크레딧 예치금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THE VISION &amp; EXIT HORIZONS</a:t>
            </a:r>
          </a:p>
          <a:p>
            <a:pPr>
              <a:spcAft>
                <a:spcPts val="1600"/>
              </a:spcAft>
            </a:pPr>
            <a:r>
              <a:rPr sz="3200" b="1">
                <a:solidFill>
                  <a:srgbClr val="FFFFFF"/>
                </a:solidFill>
                <a:latin typeface="Malgun Gothic"/>
              </a:rPr>
              <a:t>15배 ~ 50배의 압도적인 엑싯(Exit)과 글로벌 유니콘의 길</a:t>
            </a:r>
          </a:p>
          <a:p>
            <a:pPr>
              <a:spcAft>
                <a:spcPts val="2800"/>
              </a:spcAft>
            </a:pPr>
            <a:r>
              <a:rPr sz="1300">
                <a:solidFill>
                  <a:srgbClr val="E2E8F0"/>
                </a:solidFill>
                <a:latin typeface="Malgun Gothic"/>
              </a:rPr>
              <a:t>아워골은 단순한 앱이 아닙니다. 전 세계 수천만 청년들의 꿈을 현실로 바꾸는 '인생 성취의 글로벌 인프라'입니다.
• Exit 시나리오 1 (전략적 M&amp;A): 듀오링고(Duolingo), 스트라바(Strava), 네이버, 카카오 등 글로벌 에듀테크 및 헬스케어 기업 매각 (기업가치 800억~1,500억 원 / 20x~30x 회수)
• Exit 시나리오 2 (IPO / 코스닥 상장): 4년차 매출 100억 원 돌파 후 코스닥 기술특례 상장 (예상 시가총액 2,000억 원 이상 / 50x 이상 회수)
• 후속 라운드: 런칭 4개월 지표 달성 후 국내외 탑티어 VC 대상 Series A(15억~30억 원) 즉각 오픈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Malgun Gothic"/>
              </a:rPr>
              <a:t>"지금 아워골의 초기 투자자가 되십시오. 역사를 함께 쓸 가장 든든한 파트너를 모십니다."</a:t>
            </a:r>
          </a:p>
          <a:p>
            <a:r>
              <a:rPr sz="1200">
                <a:solidFill>
                  <a:srgbClr val="38BDF8"/>
                </a:solidFill>
                <a:latin typeface="Malgun Gothic"/>
              </a:rPr>
              <a:t>상민 대표  |  OurGoal  |  Contact: Sangmin Founder Desk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